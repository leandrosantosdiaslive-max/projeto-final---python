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954" y="2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D048DA-B343-4E92-9866-7FD152A54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9CD8FA-B561-4E7B-B8A4-AE05D82AA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65740E-4A72-4041-A908-C7EB77D00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98008A-DCD9-435D-9ABB-AD0C5C774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87F4B4-3569-4AF6-B8FA-74054DEA8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956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C66C6-8FD0-47A8-8910-520C2BBF9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1BDE4F-3DED-4224-A7ED-190B4B0A7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6EB4F2-B605-4EDD-AAAF-6414CFCE9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28EAF2-1220-48D4-B917-EA666D93C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677550-45F2-4D57-9622-04BB93AF2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457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B553B-E71E-4E8C-BE76-3B9BB079B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9FEA7B-3BF7-46AD-95BD-191DB6368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F58B11-2330-455B-8A62-FDE297246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413E48-1CF1-4ABD-B50E-EE3B3C211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23E38E-3CD6-40D1-8AF1-3C2F8A7A4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4240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B1D69C-C238-4712-B065-2C0516B5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1ED592-0813-4B29-8AC8-020ABDDB5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814886-1BB4-4B48-B38E-B25163EB1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BB2F0F-18A3-4EFA-B853-3D391EBC9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7D6265-B10A-4967-B766-91ADE3B16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FE7614-69C5-47CD-A1AC-3C8C71EE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1610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0D769-A043-47FE-BBFB-DE058D28A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408086-2B53-4D69-A3E9-97133EB6D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765665-A92D-4275-B0B9-6A627D279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18B77FA-8763-4D60-9CDE-8AEF825AF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23C518-F6E5-4AAF-B9F4-23FCC6DF8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9EF5C02-797C-470B-8A2C-05A6253B2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A444979-6B0E-444B-A636-E66DA29B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EA936A3-93A4-4BA4-BE47-79EA12B4D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8257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2167E-1DBA-4A38-8B11-2E15BEBE5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F693531-7EBF-4841-B43F-7EC3AA046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EC1DB31-A43F-44F2-9FB9-FFD6805B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2DCADCB-96EE-491A-9059-395B85538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64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1979B8A-6E62-41E4-98A2-9129216EC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213E5B8-DE9E-4B70-925A-DC9398FAB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BDF588-C1A4-44CD-A75C-4E0D8FC39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8686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18D2F-B599-4A7B-8F7A-CDF0D9F21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029D98-1BD2-4E20-AE5C-01721EA1B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99A78E-1CB6-4079-8A26-1CC2733B0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FD9DE5-E906-4C19-B967-2C8BB8458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0136CF-2A20-4C7C-B41F-0ECA5612E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0F237F-9390-4F20-B395-802CEFCD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7432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8E257-9985-460C-88B7-1EA77B4B5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2428A96-0072-467E-8EF6-8984F53CC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4E16D0-15E0-4260-8F7D-FA471F785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2AE21F-FD40-4AD6-B90A-E821FC2A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F3BF39-EFD3-48F3-A492-DF22EC3F8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3CD001-EB90-4BBB-9395-99948FF0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661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0829C-070B-49C1-9661-5CC85877C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FEC3907-FCF9-445B-8D60-9F0AB962C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CB07B9-3328-4600-B3B3-F430A0EDC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6A0D23-E174-430C-9EDE-EFCF6E75A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E774E6-8A75-4DC4-B75B-B752D2360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0396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5BE43D1-3245-4AB9-AC4A-81D8E2A88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4FDDB25-4365-4480-8969-C62D4D61F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A854B5-9C86-43EC-808F-26AB09F11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C73944-F0CF-4F71-8145-25ECB541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DF481-A0D6-4455-94A1-5A5EC49B1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6046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4441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2EF559C-1450-426C-B637-4D35B4B1C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E58166-1444-41AF-BA21-68BB77331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A25E5D-75FF-4C9E-81DB-F0190BCC63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5E3600-BA32-417B-ACEB-31AAE9170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ADA6FB-DA72-4E5D-946B-2F9EAE338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3759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113711"/>
            <a:ext cx="9144000" cy="13798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lang="pt-BR" sz="6000" dirty="0">
                <a:solidFill>
                  <a:srgbClr val="FFFFFF"/>
                </a:solidFill>
                <a:latin typeface="Arial MT"/>
              </a:rPr>
              <a:t>Projeto Final</a:t>
            </a:r>
            <a:endParaRPr sz="6000" dirty="0">
              <a:latin typeface="Arial MT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lang="pt-BR" sz="2400" b="0" dirty="0">
                <a:solidFill>
                  <a:srgbClr val="FFFFFF"/>
                </a:solidFill>
                <a:latin typeface="Arial MT"/>
              </a:rPr>
              <a:t>FORMULÁRIO GERENCIADOR DE LEADS PARA MARKETING</a:t>
            </a:r>
            <a:endParaRPr sz="2400" dirty="0">
              <a:latin typeface="Arial M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804F8C6-E6E3-4B1F-8C38-31C8D8D5D7D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15200" y="3009900"/>
            <a:ext cx="4108462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725" y="183805"/>
            <a:ext cx="10515600" cy="525861"/>
          </a:xfrm>
          <a:prstGeom prst="rect">
            <a:avLst/>
          </a:prstGeom>
        </p:spPr>
        <p:txBody>
          <a:bodyPr vert="horz" wrap="square" lIns="0" tIns="9405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5"/>
              </a:spcBef>
            </a:pPr>
            <a:r>
              <a:rPr lang="pt-BR" sz="2800" b="1" dirty="0">
                <a:latin typeface="Arial MT"/>
                <a:cs typeface="Arial MT"/>
              </a:rPr>
              <a:t>Situação Problema</a:t>
            </a:r>
            <a:endParaRPr sz="2800" b="1" spc="-10" dirty="0">
              <a:latin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7158" y="6286500"/>
            <a:ext cx="1136662" cy="29174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57200" y="308981"/>
            <a:ext cx="0" cy="400685"/>
          </a:xfrm>
          <a:custGeom>
            <a:avLst/>
            <a:gdLst/>
            <a:ahLst/>
            <a:cxnLst/>
            <a:rect l="l" t="t" r="r" b="b"/>
            <a:pathLst>
              <a:path h="400684">
                <a:moveTo>
                  <a:pt x="0" y="0"/>
                </a:moveTo>
                <a:lnTo>
                  <a:pt x="0" y="400177"/>
                </a:lnTo>
              </a:path>
            </a:pathLst>
          </a:custGeom>
          <a:ln w="38100">
            <a:solidFill>
              <a:srgbClr val="9A1815"/>
            </a:solidFill>
          </a:ln>
        </p:spPr>
        <p:txBody>
          <a:bodyPr wrap="square" lIns="0" tIns="0" rIns="0" bIns="0" rtlCol="0"/>
          <a:lstStyle/>
          <a:p>
            <a:endParaRPr>
              <a:latin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89858" y="1547875"/>
            <a:ext cx="47625" cy="13970"/>
          </a:xfrm>
          <a:custGeom>
            <a:avLst/>
            <a:gdLst/>
            <a:ahLst/>
            <a:cxnLst/>
            <a:rect l="l" t="t" r="r" b="b"/>
            <a:pathLst>
              <a:path w="47625" h="13969">
                <a:moveTo>
                  <a:pt x="47243" y="0"/>
                </a:moveTo>
                <a:lnTo>
                  <a:pt x="0" y="0"/>
                </a:lnTo>
                <a:lnTo>
                  <a:pt x="0" y="13715"/>
                </a:lnTo>
                <a:lnTo>
                  <a:pt x="47243" y="13715"/>
                </a:lnTo>
                <a:lnTo>
                  <a:pt x="472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1975" y="2795314"/>
            <a:ext cx="102679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defRPr sz="1600">
                <a:latin typeface="Arial MT"/>
              </a:defRPr>
            </a:lvl1pPr>
          </a:lstStyle>
          <a:p>
            <a:endParaRPr lang="pt-BR" sz="1800" b="1" dirty="0">
              <a:solidFill>
                <a:srgbClr val="00B050"/>
              </a:solidFill>
            </a:endParaRPr>
          </a:p>
          <a:p>
            <a:r>
              <a:rPr lang="pt-BR" sz="1800" b="1" dirty="0">
                <a:solidFill>
                  <a:srgbClr val="00B050"/>
                </a:solidFill>
              </a:rPr>
              <a:t>Solução proposta: 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Criar um formulário de cadastro de leads com campos como nome, e-mail, número de telefone e interesse no serviço. O sistema também permitirá visualizar, editar e excluir os leads, além de atualizar o status do lead (por exemplo, “Em andamento”, “Convertido”, “Perdido”).</a:t>
            </a:r>
            <a:endParaRPr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3FA42CC-8957-402C-B058-33795617323A}"/>
              </a:ext>
            </a:extLst>
          </p:cNvPr>
          <p:cNvSpPr txBox="1"/>
          <p:nvPr/>
        </p:nvSpPr>
        <p:spPr>
          <a:xfrm>
            <a:off x="476250" y="1192029"/>
            <a:ext cx="10439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>
                <a:latin typeface="Arial MT"/>
              </a:rPr>
              <a:t>A agência "marketing digital" está sem um sistema adequado para gerenciar os leads (potenciais clientes) que recebe por meio de campanhas online. Atualmente, os leads são armazenados manualmente em planilhas, o que dificulta o seu gerenciamento e a rápida consulta dos dados. A agência precisa de um sistema eficiente para gerenciar e acompanhar os leads."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162881"/>
            <a:ext cx="10515600" cy="956748"/>
          </a:xfrm>
          <a:prstGeom prst="rect">
            <a:avLst/>
          </a:prstGeom>
        </p:spPr>
        <p:txBody>
          <a:bodyPr vert="horz" wrap="square" lIns="0" tIns="9405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5"/>
              </a:spcBef>
            </a:pPr>
            <a:r>
              <a:rPr lang="pt-BR" sz="2800" b="1" dirty="0">
                <a:latin typeface="Arial MT"/>
              </a:rPr>
              <a:t>Objetivo - Qual o objetivo primordial desse sistema, que problema ele resolve?</a:t>
            </a:r>
            <a:endParaRPr sz="2800" b="1" spc="-10" dirty="0">
              <a:latin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7158" y="6286500"/>
            <a:ext cx="1136662" cy="29174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57200" y="308981"/>
            <a:ext cx="0" cy="400685"/>
          </a:xfrm>
          <a:custGeom>
            <a:avLst/>
            <a:gdLst/>
            <a:ahLst/>
            <a:cxnLst/>
            <a:rect l="l" t="t" r="r" b="b"/>
            <a:pathLst>
              <a:path h="400684">
                <a:moveTo>
                  <a:pt x="0" y="0"/>
                </a:moveTo>
                <a:lnTo>
                  <a:pt x="0" y="400177"/>
                </a:lnTo>
              </a:path>
            </a:pathLst>
          </a:custGeom>
          <a:ln w="38100">
            <a:solidFill>
              <a:srgbClr val="9A1815"/>
            </a:solidFill>
          </a:ln>
        </p:spPr>
        <p:txBody>
          <a:bodyPr wrap="square" lIns="0" tIns="0" rIns="0" bIns="0" rtlCol="0"/>
          <a:lstStyle/>
          <a:p>
            <a:endParaRPr>
              <a:latin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89858" y="1547875"/>
            <a:ext cx="47625" cy="13970"/>
          </a:xfrm>
          <a:custGeom>
            <a:avLst/>
            <a:gdLst/>
            <a:ahLst/>
            <a:cxnLst/>
            <a:rect l="l" t="t" r="r" b="b"/>
            <a:pathLst>
              <a:path w="47625" h="13969">
                <a:moveTo>
                  <a:pt x="47243" y="0"/>
                </a:moveTo>
                <a:lnTo>
                  <a:pt x="0" y="0"/>
                </a:lnTo>
                <a:lnTo>
                  <a:pt x="0" y="13715"/>
                </a:lnTo>
                <a:lnTo>
                  <a:pt x="47243" y="13715"/>
                </a:lnTo>
                <a:lnTo>
                  <a:pt x="472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Arial M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3BF4C7-A779-4A16-87AF-AB76314261D4}"/>
              </a:ext>
            </a:extLst>
          </p:cNvPr>
          <p:cNvSpPr txBox="1"/>
          <p:nvPr/>
        </p:nvSpPr>
        <p:spPr>
          <a:xfrm>
            <a:off x="533399" y="1752600"/>
            <a:ext cx="10315575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latin typeface="Arial MT"/>
              </a:rPr>
              <a:t>Objetivo:</a:t>
            </a:r>
          </a:p>
          <a:p>
            <a:pPr algn="just"/>
            <a:endParaRPr lang="pt-BR" sz="1600" b="1" dirty="0">
              <a:latin typeface="Arial MT"/>
            </a:endParaRPr>
          </a:p>
          <a:p>
            <a:pPr algn="just"/>
            <a:r>
              <a:rPr lang="pt-BR" sz="1600" dirty="0">
                <a:latin typeface="Arial MT"/>
              </a:rPr>
              <a:t>Cadastrar leads de forma digital, onde centralize em uma única ferramenta e armazene os dados em um único repositório de dados.</a:t>
            </a:r>
          </a:p>
          <a:p>
            <a:pPr algn="just"/>
            <a:endParaRPr lang="pt-BR" sz="1600" b="1" dirty="0">
              <a:latin typeface="Arial MT"/>
            </a:endParaRPr>
          </a:p>
          <a:p>
            <a:pPr algn="just"/>
            <a:endParaRPr lang="pt-BR" sz="1600" b="1" dirty="0">
              <a:latin typeface="Arial MT"/>
            </a:endParaRPr>
          </a:p>
          <a:p>
            <a:pPr algn="just"/>
            <a:r>
              <a:rPr lang="pt-BR" b="1" dirty="0">
                <a:latin typeface="Arial MT"/>
              </a:rPr>
              <a:t>Problemas que resolvem:</a:t>
            </a:r>
          </a:p>
          <a:p>
            <a:pPr algn="just"/>
            <a:endParaRPr lang="pt-BR" sz="1600" b="1" dirty="0">
              <a:latin typeface="Arial MT"/>
            </a:endParaRPr>
          </a:p>
          <a:p>
            <a:pPr algn="just"/>
            <a:r>
              <a:rPr lang="pt-BR" sz="1600" dirty="0">
                <a:latin typeface="Arial MT"/>
              </a:rPr>
              <a:t>Evita coleta de informações em papel, descentralização de informações, </a:t>
            </a:r>
            <a:r>
              <a:rPr lang="pt-BR" sz="1600" dirty="0" err="1">
                <a:latin typeface="Arial MT"/>
              </a:rPr>
              <a:t>compliance</a:t>
            </a:r>
            <a:r>
              <a:rPr lang="pt-BR" sz="1600" dirty="0">
                <a:latin typeface="Arial MT"/>
              </a:rPr>
              <a:t>.</a:t>
            </a:r>
          </a:p>
          <a:p>
            <a:pPr algn="just"/>
            <a:endParaRPr lang="pt-BR" sz="1600" dirty="0">
              <a:latin typeface="Arial MT"/>
            </a:endParaRPr>
          </a:p>
          <a:p>
            <a:pPr algn="just"/>
            <a:endParaRPr lang="pt-BR" sz="1600" dirty="0">
              <a:latin typeface="Arial MT"/>
            </a:endParaRPr>
          </a:p>
          <a:p>
            <a:pPr algn="just"/>
            <a:endParaRPr lang="pt-BR" sz="1600" dirty="0">
              <a:latin typeface="Arial MT"/>
            </a:endParaRPr>
          </a:p>
          <a:p>
            <a:pPr algn="just"/>
            <a:endParaRPr lang="pt-BR" sz="1600" dirty="0">
              <a:latin typeface="Arial MT"/>
            </a:endParaRPr>
          </a:p>
          <a:p>
            <a:pPr algn="just"/>
            <a:endParaRPr lang="pt-BR" sz="1600" dirty="0">
              <a:latin typeface="Arial MT"/>
            </a:endParaRPr>
          </a:p>
          <a:p>
            <a:pPr algn="just"/>
            <a:endParaRPr lang="pt-BR" sz="1600" dirty="0">
              <a:latin typeface="Arial MT"/>
            </a:endParaRPr>
          </a:p>
          <a:p>
            <a:pPr algn="just"/>
            <a:endParaRPr lang="pt-BR" sz="1600" dirty="0">
              <a:latin typeface="Arial MT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A3C0F63-A206-4B0A-A6B8-29F35845500D}"/>
              </a:ext>
            </a:extLst>
          </p:cNvPr>
          <p:cNvSpPr txBox="1"/>
          <p:nvPr/>
        </p:nvSpPr>
        <p:spPr>
          <a:xfrm>
            <a:off x="533399" y="46438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latin typeface="Arial MT"/>
              </a:rPr>
              <a:t>Em quais áreas pode ser utilizado?</a:t>
            </a:r>
            <a:endParaRPr lang="pt-BR" b="1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D05436A-4597-4FFF-97A8-995EEF5B8386}"/>
              </a:ext>
            </a:extLst>
          </p:cNvPr>
          <p:cNvSpPr txBox="1"/>
          <p:nvPr/>
        </p:nvSpPr>
        <p:spPr>
          <a:xfrm>
            <a:off x="533399" y="5134174"/>
            <a:ext cx="103155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>
                <a:latin typeface="Arial MT"/>
              </a:rPr>
              <a:t>Áreas de Negócios de qualquer empresa (Marketing, Vendas, Atendimento </a:t>
            </a:r>
            <a:r>
              <a:rPr lang="pt-BR" sz="1600" dirty="0" err="1">
                <a:latin typeface="Arial MT"/>
              </a:rPr>
              <a:t>etc</a:t>
            </a:r>
            <a:r>
              <a:rPr lang="pt-BR" sz="1600" dirty="0">
                <a:latin typeface="Arial M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78675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31292"/>
            <a:ext cx="10515600" cy="956748"/>
          </a:xfrm>
          <a:prstGeom prst="rect">
            <a:avLst/>
          </a:prstGeom>
        </p:spPr>
        <p:txBody>
          <a:bodyPr vert="horz" wrap="square" lIns="0" tIns="9405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5"/>
              </a:spcBef>
            </a:pPr>
            <a:r>
              <a:rPr lang="pt-BR" sz="2800" b="1" dirty="0">
                <a:latin typeface="Arial MT"/>
              </a:rPr>
              <a:t>Requisitos -  Qual </a:t>
            </a:r>
            <a:r>
              <a:rPr lang="pt-BR" sz="2800" b="1" dirty="0" err="1">
                <a:latin typeface="Arial MT"/>
              </a:rPr>
              <a:t>Stack</a:t>
            </a:r>
            <a:r>
              <a:rPr lang="pt-BR" sz="2800" b="1" dirty="0">
                <a:latin typeface="Arial MT"/>
              </a:rPr>
              <a:t> precisa para que ele funcione na empresa?</a:t>
            </a:r>
            <a:endParaRPr sz="2800" b="1" spc="-10" dirty="0">
              <a:latin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7158" y="6286500"/>
            <a:ext cx="1136662" cy="29174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57200" y="308981"/>
            <a:ext cx="0" cy="400685"/>
          </a:xfrm>
          <a:custGeom>
            <a:avLst/>
            <a:gdLst/>
            <a:ahLst/>
            <a:cxnLst/>
            <a:rect l="l" t="t" r="r" b="b"/>
            <a:pathLst>
              <a:path h="400684">
                <a:moveTo>
                  <a:pt x="0" y="0"/>
                </a:moveTo>
                <a:lnTo>
                  <a:pt x="0" y="400177"/>
                </a:lnTo>
              </a:path>
            </a:pathLst>
          </a:custGeom>
          <a:ln w="38100">
            <a:solidFill>
              <a:srgbClr val="9A1815"/>
            </a:solidFill>
          </a:ln>
        </p:spPr>
        <p:txBody>
          <a:bodyPr wrap="square" lIns="0" tIns="0" rIns="0" bIns="0" rtlCol="0"/>
          <a:lstStyle/>
          <a:p>
            <a:endParaRPr>
              <a:latin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89858" y="1547875"/>
            <a:ext cx="47625" cy="13970"/>
          </a:xfrm>
          <a:custGeom>
            <a:avLst/>
            <a:gdLst/>
            <a:ahLst/>
            <a:cxnLst/>
            <a:rect l="l" t="t" r="r" b="b"/>
            <a:pathLst>
              <a:path w="47625" h="13969">
                <a:moveTo>
                  <a:pt x="47243" y="0"/>
                </a:moveTo>
                <a:lnTo>
                  <a:pt x="0" y="0"/>
                </a:lnTo>
                <a:lnTo>
                  <a:pt x="0" y="13715"/>
                </a:lnTo>
                <a:lnTo>
                  <a:pt x="47243" y="13715"/>
                </a:lnTo>
                <a:lnTo>
                  <a:pt x="472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Arial M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FF5DB84-2B1A-412B-A744-D4C59DD7A6B0}"/>
              </a:ext>
            </a:extLst>
          </p:cNvPr>
          <p:cNvSpPr txBox="1"/>
          <p:nvPr/>
        </p:nvSpPr>
        <p:spPr>
          <a:xfrm>
            <a:off x="838200" y="1583435"/>
            <a:ext cx="103155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latin typeface="Arial MT"/>
              </a:rPr>
              <a:t>Ter computador;</a:t>
            </a:r>
          </a:p>
          <a:p>
            <a:endParaRPr lang="pt-BR" dirty="0">
              <a:latin typeface="Arial MT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latin typeface="Arial MT"/>
              </a:rPr>
              <a:t>Ter internet;</a:t>
            </a:r>
          </a:p>
          <a:p>
            <a:endParaRPr lang="pt-BR" dirty="0">
              <a:latin typeface="Arial MT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latin typeface="Arial MT"/>
              </a:rPr>
              <a:t>Ter Python instalado na máquina (versão mais recente);</a:t>
            </a:r>
          </a:p>
          <a:p>
            <a:r>
              <a:rPr lang="pt-BR" dirty="0">
                <a:latin typeface="Arial MT"/>
              </a:rPr>
              <a:t>-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  <a:latin typeface="Arial MT"/>
              </a:rPr>
              <a:t>Instalação do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  <a:effectLst/>
                <a:latin typeface="Arial MT"/>
              </a:rPr>
              <a:t>customtkinter</a:t>
            </a:r>
            <a:endParaRPr lang="pt-BR" dirty="0">
              <a:solidFill>
                <a:schemeClr val="bg1">
                  <a:lumMod val="50000"/>
                </a:schemeClr>
              </a:solidFill>
              <a:effectLst/>
              <a:latin typeface="Arial MT"/>
            </a:endParaRPr>
          </a:p>
          <a:p>
            <a:endParaRPr lang="pt-BR" dirty="0">
              <a:latin typeface="Arial MT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dirty="0">
                <a:latin typeface="Arial MT"/>
              </a:rPr>
              <a:t>Visual </a:t>
            </a:r>
            <a:r>
              <a:rPr lang="pt-BR" dirty="0" err="1">
                <a:latin typeface="Arial MT"/>
              </a:rPr>
              <a:t>Code</a:t>
            </a:r>
            <a:endParaRPr lang="pt-BR" dirty="0">
              <a:latin typeface="Arial MT"/>
            </a:endParaRPr>
          </a:p>
          <a:p>
            <a:pPr marL="342900" indent="-342900">
              <a:buFontTx/>
              <a:buChar char="-"/>
            </a:pPr>
            <a:r>
              <a:rPr lang="pt-BR" dirty="0">
                <a:solidFill>
                  <a:schemeClr val="bg1">
                    <a:lumMod val="50000"/>
                  </a:schemeClr>
                </a:solidFill>
                <a:latin typeface="Arial MT"/>
              </a:rPr>
              <a:t>Extensões (Python e </a:t>
            </a:r>
            <a:r>
              <a:rPr lang="pt-BR" dirty="0" err="1">
                <a:solidFill>
                  <a:schemeClr val="bg1">
                    <a:lumMod val="50000"/>
                  </a:schemeClr>
                </a:solidFill>
                <a:latin typeface="Arial MT"/>
              </a:rPr>
              <a:t>Sqlite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  <a:latin typeface="Arial MT"/>
              </a:rPr>
              <a:t>)</a:t>
            </a:r>
          </a:p>
          <a:p>
            <a:pPr marL="342900" indent="-342900">
              <a:buFontTx/>
              <a:buChar char="-"/>
            </a:pPr>
            <a:endParaRPr lang="pt-BR" dirty="0">
              <a:solidFill>
                <a:schemeClr val="bg1">
                  <a:lumMod val="50000"/>
                </a:schemeClr>
              </a:solidFill>
              <a:latin typeface="Arial MT"/>
            </a:endParaRPr>
          </a:p>
          <a:p>
            <a:pPr marL="342900" indent="-342900">
              <a:buFontTx/>
              <a:buChar char="-"/>
            </a:pPr>
            <a:endParaRPr lang="pt-BR" u="sng" dirty="0">
              <a:solidFill>
                <a:schemeClr val="bg1">
                  <a:lumMod val="50000"/>
                </a:schemeClr>
              </a:solidFill>
              <a:latin typeface="Arial MT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dirty="0">
                <a:latin typeface="Arial MT"/>
              </a:rPr>
              <a:t>Usuário noções básicas de programação</a:t>
            </a:r>
          </a:p>
        </p:txBody>
      </p:sp>
    </p:spTree>
    <p:extLst>
      <p:ext uri="{BB962C8B-B14F-4D97-AF65-F5344CB8AC3E}">
        <p14:creationId xmlns:p14="http://schemas.microsoft.com/office/powerpoint/2010/main" val="1647338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247122"/>
            <a:ext cx="10515600" cy="482772"/>
          </a:xfrm>
          <a:prstGeom prst="rect">
            <a:avLst/>
          </a:prstGeom>
        </p:spPr>
        <p:txBody>
          <a:bodyPr vert="horz" wrap="square" lIns="0" tIns="94055" rIns="0" bIns="0" rtlCol="0">
            <a:spAutoFit/>
          </a:bodyPr>
          <a:lstStyle/>
          <a:p>
            <a:pPr algn="just"/>
            <a:r>
              <a:rPr lang="pt-BR" sz="2800" b="1" dirty="0">
                <a:latin typeface="Arial MT"/>
              </a:rPr>
              <a:t>Print do repositório do </a:t>
            </a:r>
            <a:r>
              <a:rPr lang="pt-BR" sz="2800" b="1" dirty="0" err="1">
                <a:latin typeface="Arial MT"/>
              </a:rPr>
              <a:t>github</a:t>
            </a:r>
            <a:r>
              <a:rPr lang="pt-BR" sz="2800" b="1" dirty="0">
                <a:latin typeface="Arial MT"/>
              </a:rPr>
              <a:t>, print o estilo utilizado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7158" y="6286500"/>
            <a:ext cx="1136662" cy="29174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57200" y="308981"/>
            <a:ext cx="0" cy="400685"/>
          </a:xfrm>
          <a:custGeom>
            <a:avLst/>
            <a:gdLst/>
            <a:ahLst/>
            <a:cxnLst/>
            <a:rect l="l" t="t" r="r" b="b"/>
            <a:pathLst>
              <a:path h="400684">
                <a:moveTo>
                  <a:pt x="0" y="0"/>
                </a:moveTo>
                <a:lnTo>
                  <a:pt x="0" y="400177"/>
                </a:lnTo>
              </a:path>
            </a:pathLst>
          </a:custGeom>
          <a:ln w="38100">
            <a:solidFill>
              <a:srgbClr val="9A1815"/>
            </a:solidFill>
          </a:ln>
        </p:spPr>
        <p:txBody>
          <a:bodyPr wrap="square" lIns="0" tIns="0" rIns="0" bIns="0" rtlCol="0"/>
          <a:lstStyle/>
          <a:p>
            <a:endParaRPr>
              <a:latin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189858" y="1547875"/>
            <a:ext cx="47625" cy="13970"/>
          </a:xfrm>
          <a:custGeom>
            <a:avLst/>
            <a:gdLst/>
            <a:ahLst/>
            <a:cxnLst/>
            <a:rect l="l" t="t" r="r" b="b"/>
            <a:pathLst>
              <a:path w="47625" h="13969">
                <a:moveTo>
                  <a:pt x="47243" y="0"/>
                </a:moveTo>
                <a:lnTo>
                  <a:pt x="0" y="0"/>
                </a:lnTo>
                <a:lnTo>
                  <a:pt x="0" y="13715"/>
                </a:lnTo>
                <a:lnTo>
                  <a:pt x="47243" y="13715"/>
                </a:lnTo>
                <a:lnTo>
                  <a:pt x="472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Arial MT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4322564-2F52-4E9F-BC41-4A14D8C54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72425"/>
            <a:ext cx="9294394" cy="487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26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152400"/>
            <a:ext cx="10667999" cy="956748"/>
          </a:xfrm>
          <a:prstGeom prst="rect">
            <a:avLst/>
          </a:prstGeom>
        </p:spPr>
        <p:txBody>
          <a:bodyPr vert="horz" wrap="square" lIns="0" tIns="94055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5"/>
              </a:spcBef>
            </a:pPr>
            <a:r>
              <a:rPr lang="pt-BR" sz="2800" b="1" dirty="0">
                <a:latin typeface="Arial MT"/>
              </a:rPr>
              <a:t>Como o sistema funciona? print - um sequencia básica do funcionamento do seu sistema.</a:t>
            </a:r>
            <a:endParaRPr sz="2800" b="1" spc="-10" dirty="0">
              <a:latin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7158" y="6286500"/>
            <a:ext cx="1136662" cy="29174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57200" y="308981"/>
            <a:ext cx="0" cy="400685"/>
          </a:xfrm>
          <a:custGeom>
            <a:avLst/>
            <a:gdLst/>
            <a:ahLst/>
            <a:cxnLst/>
            <a:rect l="l" t="t" r="r" b="b"/>
            <a:pathLst>
              <a:path h="400684">
                <a:moveTo>
                  <a:pt x="0" y="0"/>
                </a:moveTo>
                <a:lnTo>
                  <a:pt x="0" y="400177"/>
                </a:lnTo>
              </a:path>
            </a:pathLst>
          </a:custGeom>
          <a:ln w="38100">
            <a:solidFill>
              <a:srgbClr val="9A1815"/>
            </a:solidFill>
          </a:ln>
        </p:spPr>
        <p:txBody>
          <a:bodyPr wrap="square" lIns="0" tIns="0" rIns="0" bIns="0" rtlCol="0"/>
          <a:lstStyle/>
          <a:p>
            <a:endParaRPr>
              <a:latin typeface="Arial MT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CC89E86-5436-4EE4-980A-BC531B0E6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21341"/>
            <a:ext cx="4724400" cy="3895383"/>
          </a:xfrm>
          <a:prstGeom prst="rect">
            <a:avLst/>
          </a:prstGeom>
        </p:spPr>
      </p:pic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197674E9-E219-4C7E-8338-AF3E5D2EB573}"/>
              </a:ext>
            </a:extLst>
          </p:cNvPr>
          <p:cNvSpPr/>
          <p:nvPr/>
        </p:nvSpPr>
        <p:spPr>
          <a:xfrm>
            <a:off x="5105400" y="2669124"/>
            <a:ext cx="533400" cy="685800"/>
          </a:xfrm>
          <a:prstGeom prst="rightArrow">
            <a:avLst/>
          </a:prstGeom>
          <a:solidFill>
            <a:srgbClr val="92D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D73E67A0-3EA5-4980-B7AF-6C946AF53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1" y="1248967"/>
            <a:ext cx="4338313" cy="3572459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E411BEBA-733E-463E-BF9E-03937F85F8F2}"/>
              </a:ext>
            </a:extLst>
          </p:cNvPr>
          <p:cNvSpPr txBox="1"/>
          <p:nvPr/>
        </p:nvSpPr>
        <p:spPr>
          <a:xfrm>
            <a:off x="304800" y="5524403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1000" dirty="0">
                <a:latin typeface="Arial MT"/>
              </a:rPr>
              <a:t>Executar o código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000" dirty="0">
                <a:latin typeface="Arial MT"/>
              </a:rPr>
              <a:t>Abrirá a janela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000" dirty="0">
                <a:latin typeface="Arial MT"/>
              </a:rPr>
              <a:t>Inserir os dados nos campos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000" dirty="0">
                <a:latin typeface="Arial MT"/>
              </a:rPr>
              <a:t>Selecionar os botões de comando (Salvar, Atualizar, Deletar)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000" dirty="0">
                <a:latin typeface="Arial MT"/>
              </a:rPr>
              <a:t>Após cada comando os dados ficarão visíveis na tela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000" dirty="0">
                <a:latin typeface="Arial MT"/>
              </a:rPr>
              <a:t>Os dados serão armazenados no banco de dados. 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B1656A0B-183D-4EDB-9C5E-D3C36C6E46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5824823"/>
            <a:ext cx="4762230" cy="809540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920DC7DC-993D-480F-8B23-E311C5FA769D}"/>
              </a:ext>
            </a:extLst>
          </p:cNvPr>
          <p:cNvSpPr txBox="1"/>
          <p:nvPr/>
        </p:nvSpPr>
        <p:spPr>
          <a:xfrm>
            <a:off x="304800" y="5229540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latin typeface="Arial MT"/>
              </a:rPr>
              <a:t>Instruções: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37E947D-0E99-4AA4-8DBF-F25CF443C466}"/>
              </a:ext>
            </a:extLst>
          </p:cNvPr>
          <p:cNvSpPr txBox="1"/>
          <p:nvPr/>
        </p:nvSpPr>
        <p:spPr>
          <a:xfrm>
            <a:off x="5579106" y="549052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latin typeface="Arial MT"/>
              </a:rPr>
              <a:t>Banco de dados:</a:t>
            </a:r>
          </a:p>
        </p:txBody>
      </p:sp>
      <p:sp>
        <p:nvSpPr>
          <p:cNvPr id="30" name="Seta: para a Direita 29">
            <a:extLst>
              <a:ext uri="{FF2B5EF4-FFF2-40B4-BE49-F238E27FC236}">
                <a16:creationId xmlns:a16="http://schemas.microsoft.com/office/drawing/2014/main" id="{39DBAEBA-EF70-4454-B425-E4CE4E8665BD}"/>
              </a:ext>
            </a:extLst>
          </p:cNvPr>
          <p:cNvSpPr/>
          <p:nvPr/>
        </p:nvSpPr>
        <p:spPr>
          <a:xfrm rot="5400000">
            <a:off x="7850051" y="5166520"/>
            <a:ext cx="378097" cy="533400"/>
          </a:xfrm>
          <a:prstGeom prst="rightArrow">
            <a:avLst/>
          </a:prstGeom>
          <a:solidFill>
            <a:srgbClr val="92D05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91246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327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Arial</vt:lpstr>
      <vt:lpstr>Arial MT</vt:lpstr>
      <vt:lpstr>Calibri</vt:lpstr>
      <vt:lpstr>Calibri Light</vt:lpstr>
      <vt:lpstr>Trebuchet MS</vt:lpstr>
      <vt:lpstr>Wingdings</vt:lpstr>
      <vt:lpstr>Tema do Office</vt:lpstr>
      <vt:lpstr>Projeto Final FORMULÁRIO GERENCIADOR DE LEADS PARA MARKETING</vt:lpstr>
      <vt:lpstr>Situação Problema</vt:lpstr>
      <vt:lpstr>Objetivo - Qual o objetivo primordial desse sistema, que problema ele resolve?</vt:lpstr>
      <vt:lpstr>Requisitos -  Qual Stack precisa para que ele funcione na empresa?</vt:lpstr>
      <vt:lpstr>Print do repositório do github, print o estilo utilizado</vt:lpstr>
      <vt:lpstr>Como o sistema funciona? print - um sequencia básica do funcionamento do seu sistema.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Final FORMULÁRIO DE LEADS PARA UMA AGENCIA DE MARKETING DIGITAL</dc:title>
  <dc:creator>Leandro Dias</dc:creator>
  <cp:lastModifiedBy>Aluno</cp:lastModifiedBy>
  <cp:revision>15</cp:revision>
  <dcterms:created xsi:type="dcterms:W3CDTF">2025-11-26T22:24:36Z</dcterms:created>
  <dcterms:modified xsi:type="dcterms:W3CDTF">2025-11-26T23:50:16Z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2025-08-07T00:00:00Z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2025-11-26T00:00:00Z</vt:filetime>
  </property>
  <property fmtid="{D5CDD505-2E9C-101B-9397-08002B2CF9AE}" pid="5" name="Producer">
    <vt:lpwstr>Microsoft® PowerPoint® para Microsoft 365</vt:lpwstr>
  </property>
</Properties>
</file>